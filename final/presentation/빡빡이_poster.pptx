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10083800" cy="14262100"/>
  <p:notesSz cx="6858000" cy="9144000"/>
  <p:embeddedFontLst>
    <p:embeddedFont>
      <p:font typeface="Noto Sans KR Medium" panose="020B0200000000000000" pitchFamily="50" charset="-127"/>
      <p:regular r:id="rId4"/>
    </p:embeddedFont>
    <p:embeddedFont>
      <p:font typeface="Noto Sans KR SemiBold" panose="020B0200000000000000" pitchFamily="50" charset="-127"/>
      <p:bold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492" userDrawn="1">
          <p15:clr>
            <a:srgbClr val="A4A3A4"/>
          </p15:clr>
        </p15:guide>
        <p15:guide id="2" pos="31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E4E5"/>
    <a:srgbClr val="DCDDE0"/>
    <a:srgbClr val="C8CA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2712" y="52"/>
      </p:cViewPr>
      <p:guideLst>
        <p:guide orient="horz" pos="4492"/>
        <p:guide pos="31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1.png"/><Relationship Id="rId7" Type="http://schemas.openxmlformats.org/officeDocument/2006/relationships/image" Target="../media/image17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image" Target="../media/image20.png"/><Relationship Id="rId15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09600" y="2590800"/>
            <a:ext cx="4343400" cy="5080000"/>
          </a:xfrm>
          <a:prstGeom prst="rect">
            <a:avLst/>
          </a:prstGeom>
          <a:solidFill>
            <a:srgbClr val="DCDDE0"/>
          </a:solidFill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00" y="2197100"/>
            <a:ext cx="2032000" cy="406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762000" y="2298700"/>
            <a:ext cx="1879600" cy="241300"/>
          </a:xfrm>
          <a:prstGeom prst="rect">
            <a:avLst/>
          </a:prstGeom>
        </p:spPr>
        <p:txBody>
          <a:bodyPr lIns="0" tIns="16933" rIns="0" bIns="16933" rtlCol="0" anchor="ctr"/>
          <a:lstStyle/>
          <a:p>
            <a:pPr lvl="0" algn="l">
              <a:lnSpc>
                <a:spcPct val="99600"/>
              </a:lnSpc>
            </a:pPr>
            <a:r>
              <a:rPr lang="en-US" sz="1600" i="0" u="none" strike="noStrike" cap="all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5 Medium"/>
              </a:rPr>
              <a:t>EDA (</a:t>
            </a:r>
            <a:r>
              <a:rPr lang="en-US" sz="1600" i="0" u="none" strike="noStrike" cap="all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5 Medium"/>
              </a:rPr>
              <a:t>데이터</a:t>
            </a:r>
            <a:r>
              <a:rPr lang="en-US" sz="1600" i="0" u="none" strike="noStrike" cap="all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5 Medium"/>
              </a:rPr>
              <a:t> </a:t>
            </a:r>
            <a:r>
              <a:rPr lang="en-US" sz="1600" i="0" u="none" strike="noStrike" cap="all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5 Medium"/>
              </a:rPr>
              <a:t>이해</a:t>
            </a:r>
            <a:r>
              <a:rPr lang="en-US" sz="1600" i="0" u="none" strike="noStrike" cap="all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5 Medium"/>
              </a:rPr>
              <a:t>)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00" y="2578100"/>
            <a:ext cx="43434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>
            <a:off x="609600" y="8432800"/>
            <a:ext cx="8940800" cy="4965700"/>
          </a:xfrm>
          <a:prstGeom prst="rect">
            <a:avLst/>
          </a:prstGeom>
          <a:solidFill>
            <a:srgbClr val="E3E4E5"/>
          </a:solidFill>
        </p:spPr>
      </p:pic>
      <p:sp>
        <p:nvSpPr>
          <p:cNvPr id="9" name="TextBox 9"/>
          <p:cNvSpPr txBox="1"/>
          <p:nvPr/>
        </p:nvSpPr>
        <p:spPr>
          <a:xfrm>
            <a:off x="804672" y="2761488"/>
            <a:ext cx="3959352" cy="4800600"/>
          </a:xfrm>
          <a:prstGeom prst="rect">
            <a:avLst/>
          </a:prstGeom>
        </p:spPr>
        <p:txBody>
          <a:bodyPr lIns="0" tIns="0" rIns="0" bIns="0" rtlCol="0" anchor="t" wrap="square"/>
          <a:lstStyle/>
          <a:p>
            <a:pPr marL="0" lvl="1" indent="0" algn="l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sz="1300" i="0" u="none" strike="noStrike" dirty="0" b="1">
                <a:solidFill>
                  <a:srgbClr val="2F3D2C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데이터 구조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게임 유튜브 채널 </a:t>
            </a:r>
            <a:r>
              <a:rPr lang="ko-KR" sz="1150" i="0" u="none" strike="noStrike" dirty="0" b="1">
                <a:solidFill>
                  <a:srgbClr val="3A3A3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694개</a:t>
            </a: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, 07-10 ~ 08-31 수집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핵심: 영상별 </a:t>
            </a:r>
            <a:r>
              <a:rPr lang="ko-KR" sz="1150" i="0" u="none" strike="noStrike" dirty="0" b="1">
                <a:solidFill>
                  <a:srgbClr val="3A3A3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업로드 5일 조회수(view_5d)</a:t>
            </a: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, 롱폼/쇼츠 구분 + 구독자 스냅샷</a:t>
            </a:r>
          </a:p>
          <a:p>
            <a:pPr marL="0" lvl="1" indent="0" algn="l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sz="1300" i="0" u="none" strike="noStrike" dirty="0" b="1">
                <a:solidFill>
                  <a:srgbClr val="2F3D2C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타겟 정의 · 불균형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s = log(미래 26일 롱폼 중앙값) − log(과거 중앙값)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기준일별 s </a:t>
            </a:r>
            <a:r>
              <a:rPr lang="ko-KR" sz="1150" i="0" u="none" strike="noStrike" dirty="0" b="1">
                <a:solidFill>
                  <a:srgbClr val="3A3A3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상위 20% = 1</a:t>
            </a: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 → 양성 20% 불균형 → </a:t>
            </a:r>
            <a:r>
              <a:rPr lang="ko-KR" sz="1150" i="0" u="none" strike="noStrike" dirty="0" b="1">
                <a:solidFill>
                  <a:srgbClr val="3A3A3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PR-AUC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정답 규칙을 역산해 공식 08-11 라벨과 </a:t>
            </a:r>
            <a:r>
              <a:rPr lang="ko-KR" sz="1150" i="0" u="none" strike="noStrike" dirty="0" b="1">
                <a:solidFill>
                  <a:srgbClr val="3A3A3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98.5% 일치</a:t>
            </a: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 재구성 → 매일 학습 라벨 생성</a:t>
            </a:r>
          </a:p>
          <a:p>
            <a:pPr marL="0" lvl="1" indent="0" algn="l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sz="1300" i="0" u="none" strike="noStrike" dirty="0" b="1">
                <a:solidFill>
                  <a:srgbClr val="2F3D2C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결측 · 이상치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결측 여부가 다른 변수로 예측됨(AUC 0.82~1.00) → </a:t>
            </a:r>
            <a:r>
              <a:rPr lang="ko-KR" sz="1150" i="0" u="none" strike="noStrike" dirty="0" b="1">
                <a:solidFill>
                  <a:srgbClr val="3A3A3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MCAR 아님</a:t>
            </a: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, "최근 업로드 없음" 같은 구조적 결측</a:t>
            </a:r>
          </a:p>
          <a:p>
            <a:pPr marL="0" lvl="1" indent="0" algn="l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sz="1300" i="0" u="none" strike="noStrike" dirty="0" b="1">
                <a:solidFill>
                  <a:srgbClr val="2F3D2C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핵심 인사이트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 b="1">
                <a:solidFill>
                  <a:srgbClr val="3A3A3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08-25~27 플랫폼 전체 조회수 급등</a:t>
            </a: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 → 미래 창 전체가 영향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 b="1">
                <a:solidFill>
                  <a:srgbClr val="3A3A3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지난주 정답(prev label)</a:t>
            </a: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이 최강 단서: 다음 양성률 50% vs 11%</a:t>
            </a:r>
          </a:p>
          <a:p>
            <a:pPr marL="0" lvl="1" indent="0" algn="l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sz="1150" i="0" u="none" strike="noStrike" dirty="0" b="1">
                <a:solidFill>
                  <a:srgbClr val="8A6D1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" 평소 대비 상대 순위를 맞히는 문제 "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8026400"/>
            <a:ext cx="1384300" cy="406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900" y="8420100"/>
            <a:ext cx="8915400" cy="12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alphaModFix amt="40000"/>
          </a:blip>
          <a:stretch>
            <a:fillRect/>
          </a:stretch>
        </p:blipFill>
        <p:spPr>
          <a:xfrm>
            <a:off x="5207000" y="2590800"/>
            <a:ext cx="4343400" cy="5080000"/>
          </a:xfrm>
          <a:prstGeom prst="rect">
            <a:avLst/>
          </a:prstGeom>
          <a:solidFill>
            <a:srgbClr val="E3E4E5"/>
          </a:solidFill>
        </p:spPr>
      </p:pic>
      <p:sp>
        <p:nvSpPr>
          <p:cNvPr id="14" name="TextBox 14"/>
          <p:cNvSpPr txBox="1"/>
          <p:nvPr/>
        </p:nvSpPr>
        <p:spPr>
          <a:xfrm>
            <a:off x="5359400" y="2286000"/>
            <a:ext cx="1879600" cy="241300"/>
          </a:xfrm>
          <a:prstGeom prst="rect">
            <a:avLst/>
          </a:prstGeom>
        </p:spPr>
        <p:txBody>
          <a:bodyPr lIns="0" tIns="16933" rIns="0" bIns="16933" rtlCol="0" anchor="ctr"/>
          <a:lstStyle/>
          <a:p>
            <a:pPr lvl="0" algn="l">
              <a:lnSpc>
                <a:spcPct val="99600"/>
              </a:lnSpc>
            </a:pPr>
            <a:r>
              <a:rPr lang="en-US" sz="1333" i="0" u="none" strike="noStrike" cap="all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5 Medium"/>
              </a:rPr>
              <a:t>INTRODUCTION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000" y="2578100"/>
            <a:ext cx="4343400" cy="12700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9A460FDF-F0AC-CEBB-3B83-2B47C5B48D20}"/>
              </a:ext>
            </a:extLst>
          </p:cNvPr>
          <p:cNvGrpSpPr/>
          <p:nvPr/>
        </p:nvGrpSpPr>
        <p:grpSpPr>
          <a:xfrm>
            <a:off x="-25400" y="-37041"/>
            <a:ext cx="10125825" cy="1954741"/>
            <a:chOff x="-17780" y="-39158"/>
            <a:chExt cx="10125825" cy="195474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0BE4EE33-C7E5-EE3F-8D78-827CB8B199ED}"/>
                </a:ext>
              </a:extLst>
            </p:cNvPr>
            <p:cNvGrpSpPr/>
            <p:nvPr/>
          </p:nvGrpSpPr>
          <p:grpSpPr>
            <a:xfrm>
              <a:off x="4292600" y="-15298"/>
              <a:ext cx="5815445" cy="1930881"/>
              <a:chOff x="4292600" y="-15298"/>
              <a:chExt cx="5815445" cy="1930881"/>
            </a:xfrm>
          </p:grpSpPr>
          <p:pic>
            <p:nvPicPr>
              <p:cNvPr id="2" name="Picture 2"/>
              <p:cNvPicPr>
                <a:picLocks noChangeAspect="1"/>
              </p:cNvPicPr>
              <p:nvPr/>
            </p:nvPicPr>
            <p:blipFill>
              <a:blip r:embed="rId9">
                <a:alphaModFix amt="53000"/>
              </a:blip>
              <a:stretch>
                <a:fillRect/>
              </a:stretch>
            </p:blipFill>
            <p:spPr>
              <a:xfrm>
                <a:off x="4292600" y="-14817"/>
                <a:ext cx="5815445" cy="1930400"/>
              </a:xfrm>
              <a:prstGeom prst="rect">
                <a:avLst/>
              </a:prstGeom>
            </p:spPr>
          </p:pic>
          <p:pic>
            <p:nvPicPr>
              <p:cNvPr id="16" name="Picture 16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76160" y="-15298"/>
                <a:ext cx="2731885" cy="1930400"/>
              </a:xfrm>
              <a:prstGeom prst="rect">
                <a:avLst/>
              </a:prstGeom>
            </p:spPr>
          </p:pic>
        </p:grpSp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17780" y="-39158"/>
              <a:ext cx="10031845" cy="1954260"/>
            </a:xfrm>
            <a:prstGeom prst="rect">
              <a:avLst/>
            </a:prstGeom>
          </p:spPr>
        </p:pic>
      </p:grpSp>
      <p:sp>
        <p:nvSpPr>
          <p:cNvPr id="18" name="TextBox 18"/>
          <p:cNvSpPr txBox="1"/>
          <p:nvPr/>
        </p:nvSpPr>
        <p:spPr>
          <a:xfrm>
            <a:off x="508000" y="431800"/>
            <a:ext cx="9093200" cy="1092200"/>
          </a:xfrm>
          <a:prstGeom prst="rect">
            <a:avLst/>
          </a:prstGeom>
        </p:spPr>
        <p:txBody>
          <a:bodyPr lIns="0" tIns="20449" rIns="0" bIns="11643" rtlCol="0" anchor="ctr"/>
          <a:lstStyle/>
          <a:p>
            <a:pPr lvl="0" algn="ctr">
              <a:lnSpc>
                <a:spcPct val="109559"/>
              </a:lnSpc>
            </a:pPr>
            <a:r>
              <a:rPr lang="en-US" sz="4025" i="0" u="none" strike="noStrike">
                <a:solidFill>
                  <a:srgbClr val="FFFFFF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Pretendard Bold"/>
              </a:rPr>
              <a:t>Youtube Rising Star Datathon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35240" y="1574800"/>
            <a:ext cx="1920240" cy="241300"/>
          </a:xfrm>
          <a:prstGeom prst="rect">
            <a:avLst/>
          </a:prstGeom>
        </p:spPr>
        <p:txBody>
          <a:bodyPr lIns="0" tIns="16932" rIns="0" bIns="16932" rtlCol="0" anchor="ctr"/>
          <a:lstStyle/>
          <a:p>
            <a:pPr lvl="0" algn="ctr">
              <a:lnSpc>
                <a:spcPct val="99600"/>
              </a:lnSpc>
            </a:pPr>
            <a:r>
              <a:rPr lang="en-US" sz="1333" i="0" u="none" strike="noStrike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 Thin"/>
              </a:rPr>
              <a:t>Team </a:t>
            </a:r>
            <a:r>
              <a:rPr lang="en-US" sz="1333" i="0" u="none" strike="noStrike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 Thin"/>
              </a:rPr>
              <a:t>빡빡이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84200" y="241300"/>
            <a:ext cx="1562100" cy="190500"/>
          </a:xfrm>
          <a:prstGeom prst="rect">
            <a:avLst/>
          </a:prstGeom>
        </p:spPr>
        <p:txBody>
          <a:bodyPr lIns="0" tIns="13546" rIns="0" bIns="13546" rtlCol="0" anchor="ctr"/>
          <a:lstStyle/>
          <a:p>
            <a:pPr lvl="0" algn="l">
              <a:lnSpc>
                <a:spcPct val="99600"/>
              </a:lnSpc>
            </a:pPr>
            <a:r>
              <a:rPr lang="en-US" sz="1066" i="0" u="none" strike="noStrike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 Light"/>
              </a:rPr>
              <a:t>EPOCH 5TH </a:t>
            </a:r>
            <a:r>
              <a:rPr lang="en-US" sz="1066" i="0" u="none" strike="noStrike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 Light"/>
              </a:rPr>
              <a:t>DATATHON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3200" y="139700"/>
            <a:ext cx="406400" cy="3683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07000" y="2171700"/>
            <a:ext cx="2387600" cy="4064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5359400" y="2273300"/>
            <a:ext cx="2197100" cy="241300"/>
          </a:xfrm>
          <a:prstGeom prst="rect">
            <a:avLst/>
          </a:prstGeom>
        </p:spPr>
        <p:txBody>
          <a:bodyPr lIns="0" tIns="16933" rIns="0" bIns="16933" rtlCol="0" anchor="ctr"/>
          <a:lstStyle/>
          <a:p>
            <a:pPr lvl="0" algn="l">
              <a:lnSpc>
                <a:spcPct val="99600"/>
              </a:lnSpc>
            </a:pPr>
            <a:r>
              <a:rPr lang="en-US" sz="1200" i="0" u="none" strike="noStrike" cap="all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5 Medium"/>
              </a:rPr>
              <a:t>Feature Engineering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413248" y="2761488"/>
            <a:ext cx="3959352" cy="4800600"/>
          </a:xfrm>
          <a:prstGeom prst="rect">
            <a:avLst/>
          </a:prstGeom>
        </p:spPr>
        <p:txBody>
          <a:bodyPr lIns="0" tIns="0" rIns="0" bIns="0" rtlCol="0" anchor="t" wrap="square"/>
          <a:lstStyle/>
          <a:p>
            <a:pPr marL="0" lvl="1" indent="0" algn="l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sz="1300" i="0" u="none" strike="noStrike" dirty="0" b="1">
                <a:solidFill>
                  <a:srgbClr val="2F3D2C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기본 파생변수 (D 이전 데이터만)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수준·변동: past_med, past_std, cv_last10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모멘텀: m3, m7, last3_m, r14_med, slope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업로드: upl_rate, days_since, 쇼츠 비중, 구독자</a:t>
            </a:r>
          </a:p>
          <a:p>
            <a:pPr marL="0" lvl="1" indent="0" algn="l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sz="1300" i="0" u="none" strike="noStrike" dirty="0" b="1">
                <a:solidFill>
                  <a:srgbClr val="2F3D2C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지난주 정답 역추론 (가설 기반)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 b="1">
                <a:solidFill>
                  <a:srgbClr val="3A3A3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lag_x_obs</a:t>
            </a: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 = 정답 1인데 이미 관측된 앞부분(08-25~31)이 약함 → 9월 초 영상이 강했다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 b="1">
                <a:solidFill>
                  <a:srgbClr val="3A3A3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nolag_x_obs</a:t>
            </a: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 = 정답 0인데 앞부분이 강함 → 뒷부분이 약했다</a:t>
            </a:r>
          </a:p>
          <a:p>
            <a:pPr marL="0" lvl="1" indent="0" algn="l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sz="1300" i="0" u="none" strike="noStrike" dirty="0" b="1">
                <a:solidFill>
                  <a:srgbClr val="2F3D2C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정답 규칙을 직접 반영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 b="1">
                <a:solidFill>
                  <a:srgbClr val="3A3A3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hr10</a:t>
            </a: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: 최근 10편 중 과거 중앙값을 넘긴 비율 (중앙값 규칙의 적중률)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 b="1">
                <a:solidFill>
                  <a:srgbClr val="3A3A3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struct_p</a:t>
            </a: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 = Σ Pois(n)·P(Binom(n,p) ≥ n/2): 미래 n편 중 과반이 문턱을 넘을 확률</a:t>
            </a:r>
          </a:p>
          <a:p>
            <a:pPr marL="0" lvl="1" indent="0" algn="l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sz="1300" i="0" u="none" strike="noStrike" dirty="0" b="1">
                <a:solidFill>
                  <a:srgbClr val="2F3D2C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전처리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 b="1">
                <a:solidFill>
                  <a:srgbClr val="3A3A3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날짜별 백분위 순위 변환</a:t>
            </a: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 (라벨이 상대 기준이라)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결측 지시변수 5개 + </a:t>
            </a:r>
            <a:r>
              <a:rPr lang="ko-KR" sz="1150" i="0" u="none" strike="noStrike" dirty="0" b="1">
                <a:solidFill>
                  <a:srgbClr val="3A3A3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MICE</a:t>
            </a: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 대체, 표준화</a:t>
            </a:r>
          </a:p>
          <a:p>
            <a:pPr marL="0" lvl="1" indent="0" algn="l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sz="1150" i="0" u="none" strike="noStrike" dirty="0" b="1">
                <a:solidFill>
                  <a:srgbClr val="8A6D1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" 가장 중요한 파트: 라벨 규칙을 피처로 옮기기 "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04672" y="8613648"/>
            <a:ext cx="4160520" cy="4663440"/>
          </a:xfrm>
          <a:prstGeom prst="rect">
            <a:avLst/>
          </a:prstGeom>
        </p:spPr>
        <p:txBody>
          <a:bodyPr lIns="0" tIns="0" rIns="0" bIns="0" rtlCol="0" anchor="t" wrap="square"/>
          <a:lstStyle/>
          <a:p>
            <a:pPr marL="0" lvl="1" indent="0" algn="l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sz="1300" i="0" u="none" strike="noStrike" dirty="0" b="1">
                <a:solidFill>
                  <a:srgbClr val="2F3D2C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① 로지스틱 회귀 (q_joint)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강한 L2 + 최근일 가중(반감기 7일)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선택 이유: 채널 ~700개 반복이라 독립 정보 적음, 라벨 노이즈 큼 → 트리 모델(LightGBM)은 −0.03~−0.07</a:t>
            </a:r>
          </a:p>
          <a:p>
            <a:pPr marL="0" lvl="1" indent="0" algn="l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sz="1300" i="0" u="none" strike="noStrike" dirty="0" b="1">
                <a:solidFill>
                  <a:srgbClr val="2F3D2C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② 생존분석: 우측 중도절단 소프트 라벨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데이터 끝(08-31)에서 미래 창이 잘린 기준일을 버리지 않고 q = P(최종 1 | 앞 k일 관측) 추정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(y=1, 가중 q) + (y=0, 가중 1−q)로 학습 = EM의 E-step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 b="1">
                <a:solidFill>
                  <a:srgbClr val="3A3A3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예선 0.68 → 0.76</a:t>
            </a: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 의 핵심</a:t>
            </a:r>
          </a:p>
          <a:p>
            <a:pPr marL="0" lvl="1" indent="0" algn="l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sz="1300" i="0" u="none" strike="noStrike" dirty="0" b="1">
                <a:solidFill>
                  <a:srgbClr val="2F3D2C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③ 구조 시뮬레이션 (팀원)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칼만 필터로 채널 수준 추정 → 업로드 수·조회수 몬테카를로 → 정답 산식 그대로 확률 계산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08-25 급등 폭 추정 + 지난주 정답으로 조건부 가중</a:t>
            </a:r>
          </a:p>
        </p:txBody>
      </p:sp>
      <p:sp>
        <p:nvSpPr>
          <p:cNvPr id="26" name="TextBox 6">
            <a:extLst>
              <a:ext uri="{FF2B5EF4-FFF2-40B4-BE49-F238E27FC236}">
                <a16:creationId xmlns:a16="http://schemas.microsoft.com/office/drawing/2014/main" id="{0D4DAC62-30B9-1FAB-F014-257110B762B6}"/>
              </a:ext>
            </a:extLst>
          </p:cNvPr>
          <p:cNvSpPr txBox="1"/>
          <p:nvPr/>
        </p:nvSpPr>
        <p:spPr>
          <a:xfrm>
            <a:off x="768927" y="8121650"/>
            <a:ext cx="1879600" cy="241300"/>
          </a:xfrm>
          <a:prstGeom prst="rect">
            <a:avLst/>
          </a:prstGeom>
        </p:spPr>
        <p:txBody>
          <a:bodyPr lIns="0" tIns="16933" rIns="0" bIns="16933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cap="all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5 Medium"/>
              </a:rPr>
              <a:t>모델 설계</a:t>
            </a:r>
            <a:endParaRPr lang="en-US" sz="1600" i="0" u="none" strike="noStrike" cap="all" dirty="0">
              <a:solidFill>
                <a:srgbClr val="FFFFFF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-Core Dream 5 Medium"/>
            </a:endParaRPr>
          </a:p>
        </p:txBody>
      </p:sp>
      <p:pic>
        <p:nvPicPr>
          <p:cNvPr id="27" name="Picture 3">
            <a:extLst>
              <a:ext uri="{FF2B5EF4-FFF2-40B4-BE49-F238E27FC236}">
                <a16:creationId xmlns:a16="http://schemas.microsoft.com/office/drawing/2014/main" id="{ADE10B4E-68B6-35F4-5E5A-B6534B46655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13906500"/>
            <a:ext cx="10083800" cy="355600"/>
          </a:xfrm>
          <a:prstGeom prst="rect">
            <a:avLst/>
          </a:prstGeom>
        </p:spPr>
      </p:pic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120640" y="8686800"/>
          <a:ext cx="42062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005840"/>
              </a:tblGrid>
              <a:tr h="32918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Noto Sans KR Medium"/>
                        </a:rPr>
                        <a:t>단계</a:t>
                      </a:r>
                    </a:p>
                  </a:txBody>
                  <a:tcPr marL="54864" marR="54864" marT="18288" marB="18288" anchor="ctr">
                    <a:solidFill>
                      <a:srgbClr val="2F3D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Noto Sans KR Medium"/>
                        </a:rPr>
                        <a:t>LB PR-AUC</a:t>
                      </a:r>
                    </a:p>
                  </a:txBody>
                  <a:tcPr marL="54864" marR="54864" marT="18288" marB="18288" anchor="ctr">
                    <a:solidFill>
                      <a:srgbClr val="2F3D2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Noto Sans KR Medium"/>
                        </a:rPr>
                        <a:t>로지스틱 + 소프트 라벨 (출발)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Noto Sans KR Medium"/>
                        </a:rPr>
                        <a:t>0.7057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Noto Sans KR Medium"/>
                        </a:rPr>
                        <a:t>+ 구간·구조모형 순위 블렌드</a:t>
                      </a:r>
                    </a:p>
                  </a:txBody>
                  <a:tcPr marL="54864" marR="54864" marT="18288" marB="18288" anchor="ctr">
                    <a:solidFill>
                      <a:srgbClr val="F1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Noto Sans KR Medium"/>
                        </a:rPr>
                        <a:t>0.7075</a:t>
                      </a:r>
                    </a:p>
                  </a:txBody>
                  <a:tcPr marL="54864" marR="54864" marT="18288" marB="18288" anchor="ctr">
                    <a:solidFill>
                      <a:srgbClr val="F1F3E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Noto Sans KR Medium"/>
                        </a:rPr>
                        <a:t>+ lag1feat (관측 질 피처)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Noto Sans KR Medium"/>
                        </a:rPr>
                        <a:t>0.7090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Noto Sans KR Medium"/>
                        </a:rPr>
                        <a:t>+ lag1q + q_joint (q모형 통합)</a:t>
                      </a:r>
                    </a:p>
                  </a:txBody>
                  <a:tcPr marL="54864" marR="54864" marT="18288" marB="18288" anchor="ctr">
                    <a:solidFill>
                      <a:srgbClr val="F1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Noto Sans KR Medium"/>
                        </a:rPr>
                        <a:t>0.7115</a:t>
                      </a:r>
                    </a:p>
                  </a:txBody>
                  <a:tcPr marL="54864" marR="54864" marT="18288" marB="18288" anchor="ctr">
                    <a:solidFill>
                      <a:srgbClr val="F1F3E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Noto Sans KR Medium"/>
                        </a:rPr>
                        <a:t>구조 시뮬레이션 계열 (팀원)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Noto Sans KR Medium"/>
                        </a:rPr>
                        <a:t>0.7395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Noto Sans KR Medium"/>
                        </a:rPr>
                        <a:t>최종: 0.9·sim계열 + 0.1·q_joint</a:t>
                      </a:r>
                    </a:p>
                  </a:txBody>
                  <a:tcPr marL="54864" marR="54864" marT="18288" marB="18288" anchor="ctr">
                    <a:solidFill>
                      <a:srgbClr val="F1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3A3A"/>
                          </a:solidFill>
                          <a:latin typeface="Noto Sans KR Medium"/>
                        </a:rPr>
                        <a:t>0.7412</a:t>
                      </a:r>
                    </a:p>
                  </a:txBody>
                  <a:tcPr marL="54864" marR="54864" marT="18288" marB="18288" anchor="ctr">
                    <a:solidFill>
                      <a:srgbClr val="F1F3EF"/>
                    </a:solidFill>
                  </a:tcPr>
                </a:tc>
              </a:tr>
            </a:tbl>
          </a:graphicData>
        </a:graphic>
      </p:graphicFrame>
      <p:sp>
        <p:nvSpPr>
          <p:cNvPr id="29" name="Blend note"/>
          <p:cNvSpPr txBox="1"/>
          <p:nvPr/>
        </p:nvSpPr>
        <p:spPr>
          <a:xfrm>
            <a:off x="5120640" y="11155680"/>
            <a:ext cx="42062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lvl="1" indent="0" algn="l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sz="1300" i="0" u="none" strike="noStrike" dirty="0" b="1">
                <a:solidFill>
                  <a:srgbClr val="2F3D2C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최종 블렌딩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score = 0.9·rank(시뮬레이션 계열) + 0.1·rank(q_joint)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PR-AUC는 순위만 보므로 </a:t>
            </a:r>
            <a:r>
              <a:rPr lang="ko-KR" sz="1150" i="0" u="none" strike="noStrike" dirty="0" b="1">
                <a:solidFill>
                  <a:srgbClr val="3A3A3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순위 평균</a:t>
            </a: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으로 결합 — 구조가 다른 두 모델의 오차가 서로 보완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53000"/>
          </a:blip>
          <a:stretch>
            <a:fillRect/>
          </a:stretch>
        </p:blipFill>
        <p:spPr>
          <a:xfrm>
            <a:off x="4292600" y="0"/>
            <a:ext cx="5791200" cy="736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06500"/>
            <a:ext cx="10083800" cy="355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1300" y="0"/>
            <a:ext cx="2222500" cy="736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0121900" cy="7366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84200" y="241300"/>
            <a:ext cx="1562100" cy="190500"/>
          </a:xfrm>
          <a:prstGeom prst="rect">
            <a:avLst/>
          </a:prstGeom>
        </p:spPr>
        <p:txBody>
          <a:bodyPr lIns="0" tIns="13546" rIns="0" bIns="13546" rtlCol="0" anchor="ctr"/>
          <a:lstStyle/>
          <a:p>
            <a:pPr lvl="0" algn="l">
              <a:lnSpc>
                <a:spcPct val="99600"/>
              </a:lnSpc>
            </a:pPr>
            <a:r>
              <a:rPr lang="en-US" sz="1066" i="0" u="none" strike="noStrike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 Light"/>
              </a:rPr>
              <a:t>EPOCH 5TH DATATHON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200" y="139700"/>
            <a:ext cx="406400" cy="368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>
            <a:off x="609600" y="1600200"/>
            <a:ext cx="4343400" cy="4381500"/>
          </a:xfrm>
          <a:prstGeom prst="rect">
            <a:avLst/>
          </a:prstGeom>
          <a:solidFill>
            <a:srgbClr val="E3E4E5"/>
          </a:solidFill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200" y="1219200"/>
            <a:ext cx="1879600" cy="406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6900" y="1600200"/>
            <a:ext cx="4343400" cy="12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>
            <a:alphaModFix amt="40000"/>
          </a:blip>
          <a:stretch>
            <a:fillRect/>
          </a:stretch>
        </p:blipFill>
        <p:spPr>
          <a:xfrm>
            <a:off x="5194300" y="1600200"/>
            <a:ext cx="4343400" cy="4381500"/>
          </a:xfrm>
          <a:prstGeom prst="rect">
            <a:avLst/>
          </a:prstGeom>
          <a:solidFill>
            <a:srgbClr val="E3E4E5"/>
          </a:solidFill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8900" y="1219200"/>
            <a:ext cx="1549400" cy="406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81600" y="1600200"/>
            <a:ext cx="43434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>
            <a:alphaModFix amt="40000"/>
          </a:blip>
          <a:stretch>
            <a:fillRect/>
          </a:stretch>
        </p:blipFill>
        <p:spPr>
          <a:xfrm>
            <a:off x="596900" y="6667500"/>
            <a:ext cx="8940800" cy="3124200"/>
          </a:xfrm>
          <a:prstGeom prst="rect">
            <a:avLst/>
          </a:prstGeom>
          <a:solidFill>
            <a:srgbClr val="E3E4E5"/>
          </a:solidFill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6900" y="6273800"/>
            <a:ext cx="1473200" cy="406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4200" y="6654800"/>
            <a:ext cx="8915400" cy="12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4">
            <a:alphaModFix amt="40000"/>
          </a:blip>
          <a:stretch>
            <a:fillRect/>
          </a:stretch>
        </p:blipFill>
        <p:spPr>
          <a:xfrm>
            <a:off x="571500" y="10528300"/>
            <a:ext cx="8940800" cy="3175000"/>
          </a:xfrm>
          <a:prstGeom prst="rect">
            <a:avLst/>
          </a:prstGeom>
          <a:solidFill>
            <a:srgbClr val="E3E4E5"/>
          </a:solidFill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10121900"/>
            <a:ext cx="2003136" cy="406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10515600"/>
            <a:ext cx="8915400" cy="127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804672" y="1783080"/>
            <a:ext cx="3959352" cy="4114800"/>
          </a:xfrm>
          <a:prstGeom prst="rect">
            <a:avLst/>
          </a:prstGeom>
        </p:spPr>
        <p:txBody>
          <a:bodyPr lIns="0" tIns="0" rIns="0" bIns="0" rtlCol="0" anchor="t" wrap="square"/>
          <a:lstStyle/>
          <a:p>
            <a:pPr marL="0" lvl="1" indent="0" algn="l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sz="1300" i="0" u="none" strike="noStrike" dirty="0" b="1">
                <a:solidFill>
                  <a:srgbClr val="2F3D2C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튜닝 대상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규제 강도 C: 0.015 / 0.1 (모델별)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최근일 가중 반감기: 3·5·</a:t>
            </a:r>
            <a:r>
              <a:rPr lang="ko-KR" sz="1150" i="0" u="none" strike="noStrike" dirty="0" b="1">
                <a:solidFill>
                  <a:srgbClr val="3A3A3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7</a:t>
            </a: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·10·20일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블렌드 비중: 0.4 / </a:t>
            </a:r>
            <a:r>
              <a:rPr lang="ko-KR" sz="1150" i="0" u="none" strike="noStrike" dirty="0" b="1">
                <a:solidFill>
                  <a:srgbClr val="3A3A3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0.5</a:t>
            </a: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 / 0.6, 최종 90:10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소프트 라벨 옵션: q_x, soft_k, q_joint</a:t>
            </a:r>
          </a:p>
          <a:p>
            <a:pPr marL="0" lvl="1" indent="0" algn="l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sz="1300" i="0" u="none" strike="noStrike" dirty="0" b="1">
                <a:solidFill>
                  <a:srgbClr val="2F3D2C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튜닝 방법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옵션마다 </a:t>
            </a:r>
            <a:r>
              <a:rPr lang="ko-KR" sz="1150" i="0" u="none" strike="noStrike" dirty="0" b="1">
                <a:solidFill>
                  <a:srgbClr val="3A3A3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플래그 단위 A/B</a:t>
            </a: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, 시간 검증 9일 평균 AP 비교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채택 기준: 평균 상승 + </a:t>
            </a:r>
            <a:r>
              <a:rPr lang="ko-KR" sz="1150" i="0" u="none" strike="noStrike" dirty="0" b="1">
                <a:solidFill>
                  <a:srgbClr val="3A3A3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대부분의 날 개선</a:t>
            </a: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 + 큰 하락 없음</a:t>
            </a:r>
          </a:p>
          <a:p>
            <a:pPr marL="0" lvl="1" indent="0" algn="l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sz="1300" i="0" u="none" strike="noStrike" dirty="0" b="1">
                <a:solidFill>
                  <a:srgbClr val="2F3D2C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성능 변화 (검증 AP)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기본 0.555 → 소프트 0.561 → 구조 0.570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→ +lag1q·q_joint 0.574 → </a:t>
            </a:r>
            <a:r>
              <a:rPr lang="ko-KR" sz="1150" i="0" u="none" strike="noStrike" dirty="0" b="1">
                <a:solidFill>
                  <a:srgbClr val="3A3A3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+hr10 0.578</a:t>
            </a:r>
          </a:p>
          <a:p>
            <a:pPr marL="0" lvl="1" indent="0" algn="l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sz="1150" i="0" u="none" strike="noStrike" dirty="0" b="1">
                <a:solidFill>
                  <a:srgbClr val="8A6D1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" 깊이보다 논리: 채택/기각 근거를 남긴다 "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422392" y="1783080"/>
            <a:ext cx="3959352" cy="2377440"/>
          </a:xfrm>
          <a:prstGeom prst="rect">
            <a:avLst/>
          </a:prstGeom>
        </p:spPr>
        <p:txBody>
          <a:bodyPr lIns="0" tIns="0" rIns="0" bIns="0" rtlCol="0" anchor="t" wrap="square"/>
          <a:lstStyle/>
          <a:p>
            <a:pPr marL="0" lvl="1" indent="0" algn="l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sz="1300" i="0" u="none" strike="noStrike" dirty="0" b="1">
                <a:solidFill>
                  <a:srgbClr val="2F3D2C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Validation: 시간 기반 (KFold 금지)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같은 채널 반복 + 미래 창 겹침 → KFold는 </a:t>
            </a:r>
            <a:r>
              <a:rPr lang="ko-KR" sz="1150" i="0" u="none" strike="noStrike" dirty="0" b="1">
                <a:solidFill>
                  <a:srgbClr val="3A3A3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0.65로 부풀림</a:t>
            </a: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 (정직한 값 0.40~0.57)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"데이터가 검증일에 끝난다"고 놓고 소프트 라벨·q모형까지 전부 재생성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검증 +0.009 ≈ LB +0.002 로 축소 반영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04672" y="6812280"/>
            <a:ext cx="5120640" cy="2880360"/>
          </a:xfrm>
          <a:prstGeom prst="rect">
            <a:avLst/>
          </a:prstGeom>
        </p:spPr>
        <p:txBody>
          <a:bodyPr lIns="0" tIns="0" rIns="0" bIns="0" rtlCol="0" anchor="t" wrap="square"/>
          <a:lstStyle/>
          <a:p>
            <a:pPr marL="0" lvl="1" indent="0" algn="l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sz="1300" i="0" u="none" strike="noStrike" dirty="0" b="1">
                <a:solidFill>
                  <a:srgbClr val="2F3D2C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SHAP (로지스틱 → 선형 SHAP = 계수 × 편차)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 b="1">
                <a:solidFill>
                  <a:srgbClr val="3A3A3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lag(+), lag_x_obs(+)</a:t>
            </a: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: 지난주 정답 1, 특히 관측 앞부분이 약했던 채널 → 9월 초 강세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 b="1">
                <a:solidFill>
                  <a:srgbClr val="3A3A3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rk_past_med(−)</a:t>
            </a: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: 이미 평소 조회수가 큰 채널은 덜 오름 (평균 회귀)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 b="1">
                <a:solidFill>
                  <a:srgbClr val="3A3A3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rk_struct_p(+)</a:t>
            </a: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: 업로드 많고 변동 큰 채널 → 중앙값이 문턱을 넘기 쉬움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150" i="0" u="none" strike="noStrike" dirty="0" b="1">
                <a:solidFill>
                  <a:srgbClr val="3A3A3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nolag_x_obs(−)</a:t>
            </a:r>
            <a:r>
              <a:rPr lang="ko-KR" sz="11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: 정답 0인데 초반만 강했던 채널은 하락</a:t>
            </a:r>
          </a:p>
          <a:p>
            <a:pPr marL="0" lvl="1" indent="0" algn="l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sz="1150" i="0" u="none" strike="noStrike" dirty="0" b="1">
                <a:solidFill>
                  <a:srgbClr val="8A6D1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" 왜 그렇게 예측했는가: 정답 규칙의 구조가 그대로 드러남 "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4672" y="10680192"/>
            <a:ext cx="8503920" cy="2926080"/>
          </a:xfrm>
          <a:prstGeom prst="rect">
            <a:avLst/>
          </a:prstGeom>
        </p:spPr>
        <p:txBody>
          <a:bodyPr lIns="0" tIns="0" rIns="0" bIns="0" rtlCol="0" anchor="t" wrap="square"/>
          <a:lstStyle/>
          <a:p>
            <a:pPr marL="0" lvl="1" indent="0" algn="l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sz="1400" i="0" u="none" strike="noStrike" dirty="0" b="1">
                <a:solidFill>
                  <a:srgbClr val="2F3D2C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가장 중요한 변수 / 패턴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2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지난주 정답 + 이미 관측된 앞부분의 역추론. 최종 상위 139개 중 </a:t>
            </a:r>
            <a:r>
              <a:rPr lang="ko-KR" sz="1250" i="0" u="none" strike="noStrike" dirty="0" b="1">
                <a:solidFill>
                  <a:srgbClr val="3A3A3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88%가 지난주 정답 1</a:t>
            </a:r>
            <a:r>
              <a:rPr lang="ko-KR" sz="12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 → 승부는 이 그룹 내부의 순서</a:t>
            </a:r>
          </a:p>
          <a:p>
            <a:pPr marL="0" lvl="1" indent="0" algn="l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sz="1400" i="0" u="none" strike="noStrike" dirty="0" b="1">
                <a:solidFill>
                  <a:srgbClr val="2F3D2C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모델로부터 얻은 인사이트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2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라벨 규칙(중앙값·상위 20%·잘린 창)을 </a:t>
            </a:r>
            <a:r>
              <a:rPr lang="ko-KR" sz="1250" i="0" u="none" strike="noStrike" dirty="0" b="1">
                <a:solidFill>
                  <a:srgbClr val="3A3A3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피처와 생존분석 소프트 라벨로 직접 옮길 때</a:t>
            </a:r>
            <a:r>
              <a:rPr lang="ko-KR" sz="12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 가장 크게 개선, 모델 복잡도는 효과 없음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2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검증 구조가 테스트와 다르면 결론이 뒤집힘: "초반 강세 + 정답 0" 채널 양성률이 18일 창에서는 0%, 테스트와 같은 26일 창에서는 50% → </a:t>
            </a:r>
            <a:r>
              <a:rPr lang="ko-KR" sz="1250" i="0" u="none" strike="noStrike" dirty="0" b="1">
                <a:solidFill>
                  <a:srgbClr val="3A3A3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테스트 구조 그대로 백테스트 후에만 채택</a:t>
            </a:r>
          </a:p>
          <a:p>
            <a:pPr marL="0" lvl="1" indent="0" algn="l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sz="1400" i="0" u="none" strike="noStrike" dirty="0" b="1">
                <a:solidFill>
                  <a:srgbClr val="2F3D2C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실제 적용 가능성</a:t>
            </a:r>
          </a:p>
          <a:p>
            <a:pPr marL="228600" lvl="1" indent="-228600" algn="l">
              <a:lnSpc>
                <a:spcPct val="1250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250" i="0" u="none" strike="noStrike" dirty="0">
                <a:solidFill>
                  <a:srgbClr val="59595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3 Light"/>
              </a:rPr>
              <a:t>MCN·광고주의 급등 채널 사전 선별, 크리에이터의 업로드 전략(빈도·연속 적중) 모니터링</a:t>
            </a:r>
          </a:p>
        </p:txBody>
      </p:sp>
      <p:sp>
        <p:nvSpPr>
          <p:cNvPr id="29" name="TextBox 6">
            <a:extLst>
              <a:ext uri="{FF2B5EF4-FFF2-40B4-BE49-F238E27FC236}">
                <a16:creationId xmlns:a16="http://schemas.microsoft.com/office/drawing/2014/main" id="{D0F3B2E2-64E8-05EC-9343-F70BE5E77E02}"/>
              </a:ext>
            </a:extLst>
          </p:cNvPr>
          <p:cNvSpPr txBox="1"/>
          <p:nvPr/>
        </p:nvSpPr>
        <p:spPr>
          <a:xfrm>
            <a:off x="735445" y="1314450"/>
            <a:ext cx="1879600" cy="241300"/>
          </a:xfrm>
          <a:prstGeom prst="rect">
            <a:avLst/>
          </a:prstGeom>
        </p:spPr>
        <p:txBody>
          <a:bodyPr lIns="0" tIns="16933" rIns="0" bIns="16933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i="0" u="none" strike="noStrike" cap="all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5 Medium"/>
              </a:rPr>
              <a:t>파라미터 튜닝</a:t>
            </a:r>
            <a:endParaRPr lang="en-US" sz="1600" i="0" u="none" strike="noStrike" cap="all" dirty="0">
              <a:solidFill>
                <a:srgbClr val="FFFFFF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-Core Dream 5 Medium"/>
            </a:endParaRPr>
          </a:p>
        </p:txBody>
      </p:sp>
      <p:sp>
        <p:nvSpPr>
          <p:cNvPr id="30" name="TextBox 6">
            <a:extLst>
              <a:ext uri="{FF2B5EF4-FFF2-40B4-BE49-F238E27FC236}">
                <a16:creationId xmlns:a16="http://schemas.microsoft.com/office/drawing/2014/main" id="{A924091A-4940-B393-9015-5D4D245A7EB7}"/>
              </a:ext>
            </a:extLst>
          </p:cNvPr>
          <p:cNvSpPr txBox="1"/>
          <p:nvPr/>
        </p:nvSpPr>
        <p:spPr>
          <a:xfrm>
            <a:off x="5342082" y="1308100"/>
            <a:ext cx="1879600" cy="241300"/>
          </a:xfrm>
          <a:prstGeom prst="rect">
            <a:avLst/>
          </a:prstGeom>
        </p:spPr>
        <p:txBody>
          <a:bodyPr lIns="0" tIns="16933" rIns="0" bIns="16933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i="0" u="none" strike="noStrike" cap="all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5 Medium"/>
              </a:rPr>
              <a:t>성능 평가</a:t>
            </a:r>
            <a:endParaRPr lang="en-US" sz="1600" i="0" u="none" strike="noStrike" cap="all" dirty="0">
              <a:solidFill>
                <a:srgbClr val="FFFFFF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-Core Dream 5 Medium"/>
            </a:endParaRPr>
          </a:p>
        </p:txBody>
      </p:sp>
      <p:sp>
        <p:nvSpPr>
          <p:cNvPr id="31" name="TextBox 6">
            <a:extLst>
              <a:ext uri="{FF2B5EF4-FFF2-40B4-BE49-F238E27FC236}">
                <a16:creationId xmlns:a16="http://schemas.microsoft.com/office/drawing/2014/main" id="{75D46E9A-4F3B-DC7B-78DF-B25EB326FD65}"/>
              </a:ext>
            </a:extLst>
          </p:cNvPr>
          <p:cNvSpPr txBox="1"/>
          <p:nvPr/>
        </p:nvSpPr>
        <p:spPr>
          <a:xfrm>
            <a:off x="723900" y="6369050"/>
            <a:ext cx="1879600" cy="241300"/>
          </a:xfrm>
          <a:prstGeom prst="rect">
            <a:avLst/>
          </a:prstGeom>
        </p:spPr>
        <p:txBody>
          <a:bodyPr lIns="0" tIns="16933" rIns="0" bIns="16933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cap="all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5 Medium"/>
              </a:rPr>
              <a:t>모델 해석</a:t>
            </a:r>
            <a:endParaRPr lang="en-US" sz="1600" i="0" u="none" strike="noStrike" cap="all" dirty="0">
              <a:solidFill>
                <a:srgbClr val="FFFFFF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-Core Dream 5 Medium"/>
            </a:endParaRPr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4CD821CD-0519-A176-59AE-8BD4CDFA1E26}"/>
              </a:ext>
            </a:extLst>
          </p:cNvPr>
          <p:cNvSpPr txBox="1"/>
          <p:nvPr/>
        </p:nvSpPr>
        <p:spPr>
          <a:xfrm>
            <a:off x="695036" y="10225809"/>
            <a:ext cx="1879600" cy="241300"/>
          </a:xfrm>
          <a:prstGeom prst="rect">
            <a:avLst/>
          </a:prstGeom>
        </p:spPr>
        <p:txBody>
          <a:bodyPr lIns="0" tIns="16933" rIns="0" bIns="16933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i="0" u="none" strike="noStrike" cap="all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-Core Dream 5 Medium"/>
              </a:rPr>
              <a:t>결론 및 인사이트</a:t>
            </a:r>
            <a:endParaRPr lang="en-US" sz="1600" i="0" u="none" strike="noStrike" cap="all" dirty="0">
              <a:solidFill>
                <a:srgbClr val="FFFFFF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-Core Dream 5 Medium"/>
            </a:endParaRP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5422392" y="4343400"/>
          <a:ext cx="39593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1992"/>
                <a:gridCol w="868680"/>
                <a:gridCol w="868680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Noto Sans KR Medium"/>
                        </a:rPr>
                        <a:t>설정</a:t>
                      </a:r>
                    </a:p>
                  </a:txBody>
                  <a:tcPr marL="54864" marR="54864" marT="18288" marB="18288" anchor="ctr">
                    <a:solidFill>
                      <a:srgbClr val="2F3D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Noto Sans KR Medium"/>
                        </a:rPr>
                        <a:t>검증 AP</a:t>
                      </a:r>
                    </a:p>
                  </a:txBody>
                  <a:tcPr marL="54864" marR="54864" marT="18288" marB="18288" anchor="ctr">
                    <a:solidFill>
                      <a:srgbClr val="2F3D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Noto Sans KR Medium"/>
                        </a:rPr>
                        <a:t>LB</a:t>
                      </a:r>
                    </a:p>
                  </a:txBody>
                  <a:tcPr marL="54864" marR="54864" marT="18288" marB="18288" anchor="ctr">
                    <a:solidFill>
                      <a:srgbClr val="2F3D2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Noto Sans KR Medium"/>
                        </a:rPr>
                        <a:t>로지스틱 + 소프트 라벨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Noto Sans KR Medium"/>
                        </a:rPr>
                        <a:t>0.561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Noto Sans KR Medium"/>
                        </a:rPr>
                        <a:t>0.7057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Noto Sans KR Medium"/>
                        </a:rPr>
                        <a:t>+ lag1feat</a:t>
                      </a:r>
                    </a:p>
                  </a:txBody>
                  <a:tcPr marL="54864" marR="54864" marT="18288" marB="18288" anchor="ctr">
                    <a:solidFill>
                      <a:srgbClr val="F1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Noto Sans KR Medium"/>
                        </a:rPr>
                        <a:t>0.571</a:t>
                      </a:r>
                    </a:p>
                  </a:txBody>
                  <a:tcPr marL="54864" marR="54864" marT="18288" marB="18288" anchor="ctr">
                    <a:solidFill>
                      <a:srgbClr val="F1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Noto Sans KR Medium"/>
                        </a:rPr>
                        <a:t>0.7090</a:t>
                      </a:r>
                    </a:p>
                  </a:txBody>
                  <a:tcPr marL="54864" marR="54864" marT="18288" marB="18288" anchor="ctr">
                    <a:solidFill>
                      <a:srgbClr val="F1F3E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Noto Sans KR Medium"/>
                        </a:rPr>
                        <a:t>+ lag1q + q_joint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Noto Sans KR Medium"/>
                        </a:rPr>
                        <a:t>0.574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Noto Sans KR Medium"/>
                        </a:rPr>
                        <a:t>0.7115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Noto Sans KR Medium"/>
                        </a:rPr>
                        <a:t>최종 블렌드</a:t>
                      </a:r>
                    </a:p>
                  </a:txBody>
                  <a:tcPr marL="54864" marR="54864" marT="18288" marB="18288" anchor="ctr">
                    <a:solidFill>
                      <a:srgbClr val="F1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3A3A"/>
                          </a:solidFill>
                          <a:latin typeface="Noto Sans KR Medium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1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3A3A"/>
                          </a:solidFill>
                          <a:latin typeface="Noto Sans KR Medium"/>
                        </a:rPr>
                        <a:t>0.7412</a:t>
                      </a:r>
                    </a:p>
                  </a:txBody>
                  <a:tcPr marL="54864" marR="54864" marT="18288" marB="18288" anchor="ctr">
                    <a:solidFill>
                      <a:srgbClr val="F1F3EF"/>
                    </a:solidFill>
                  </a:tcPr>
                </a:tc>
              </a:tr>
            </a:tbl>
          </a:graphicData>
        </a:graphic>
      </p:graphicFrame>
      <p:pic>
        <p:nvPicPr>
          <p:cNvPr id="34" name="Picture 33" descr="shap_latest_beeswarm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72200" y="6784848"/>
            <a:ext cx="3101645" cy="29077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184</Words>
  <Application>Microsoft Office PowerPoint</Application>
  <PresentationFormat>사용자 지정</PresentationFormat>
  <Paragraphs>40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Calibri</vt:lpstr>
      <vt:lpstr>Noto Sans KR SemiBold</vt:lpstr>
      <vt:lpstr>Noto Sans KR Medium</vt:lpstr>
      <vt:lpstr>Arial</vt:lpstr>
      <vt:lpstr>Office Theme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JiSong Oh</dc:creator>
  <cp:lastModifiedBy>김현호 [학부 / 전기전자공학부]</cp:lastModifiedBy>
  <cp:revision>7</cp:revision>
  <dcterms:created xsi:type="dcterms:W3CDTF">2006-08-16T00:00:00Z</dcterms:created>
  <dcterms:modified xsi:type="dcterms:W3CDTF">2026-10-02T06:05:57Z</dcterms:modified>
</cp:coreProperties>
</file>